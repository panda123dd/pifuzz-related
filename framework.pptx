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28800425" cy="14400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F1F8"/>
    <a:srgbClr val="FAF1F8"/>
    <a:srgbClr val="F3F6F8"/>
    <a:srgbClr val="333333"/>
    <a:srgbClr val="F3F7F8"/>
    <a:srgbClr val="F1F6F8"/>
    <a:srgbClr val="FFFFFF"/>
    <a:srgbClr val="EEF4FA"/>
    <a:srgbClr val="FFF2CC"/>
    <a:srgbClr val="DCEA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3" d="100"/>
          <a:sy n="53" d="100"/>
        </p:scale>
        <p:origin x="158" y="1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00053" y="2356703"/>
            <a:ext cx="21600319" cy="5013407"/>
          </a:xfrm>
        </p:spPr>
        <p:txBody>
          <a:bodyPr anchor="b"/>
          <a:lstStyle>
            <a:lvl1pPr algn="ctr">
              <a:defRPr sz="1259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00053" y="7563446"/>
            <a:ext cx="21600319" cy="3476717"/>
          </a:xfrm>
        </p:spPr>
        <p:txBody>
          <a:bodyPr/>
          <a:lstStyle>
            <a:lvl1pPr marL="0" indent="0" algn="ctr">
              <a:buNone/>
              <a:defRPr sz="5040"/>
            </a:lvl1pPr>
            <a:lvl2pPr marL="960029" indent="0" algn="ctr">
              <a:buNone/>
              <a:defRPr sz="4200"/>
            </a:lvl2pPr>
            <a:lvl3pPr marL="1920057" indent="0" algn="ctr">
              <a:buNone/>
              <a:defRPr sz="3780"/>
            </a:lvl3pPr>
            <a:lvl4pPr marL="2880086" indent="0" algn="ctr">
              <a:buNone/>
              <a:defRPr sz="3360"/>
            </a:lvl4pPr>
            <a:lvl5pPr marL="3840114" indent="0" algn="ctr">
              <a:buNone/>
              <a:defRPr sz="3360"/>
            </a:lvl5pPr>
            <a:lvl6pPr marL="4800143" indent="0" algn="ctr">
              <a:buNone/>
              <a:defRPr sz="3360"/>
            </a:lvl6pPr>
            <a:lvl7pPr marL="5760171" indent="0" algn="ctr">
              <a:buNone/>
              <a:defRPr sz="3360"/>
            </a:lvl7pPr>
            <a:lvl8pPr marL="6720200" indent="0" algn="ctr">
              <a:buNone/>
              <a:defRPr sz="3360"/>
            </a:lvl8pPr>
            <a:lvl9pPr marL="7680228" indent="0" algn="ctr">
              <a:buNone/>
              <a:defRPr sz="336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7865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4325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65029" y="3590055"/>
            <a:ext cx="24840367" cy="5990088"/>
          </a:xfrm>
        </p:spPr>
        <p:txBody>
          <a:bodyPr anchor="b"/>
          <a:lstStyle>
            <a:lvl1pPr>
              <a:defRPr sz="1259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65029" y="9636811"/>
            <a:ext cx="24840367" cy="3150046"/>
          </a:xfrm>
        </p:spPr>
        <p:txBody>
          <a:bodyPr/>
          <a:lstStyle>
            <a:lvl1pPr marL="0" indent="0">
              <a:buNone/>
              <a:defRPr sz="5040">
                <a:solidFill>
                  <a:schemeClr val="tx1">
                    <a:tint val="75000"/>
                  </a:schemeClr>
                </a:solidFill>
              </a:defRPr>
            </a:lvl1pPr>
            <a:lvl2pPr marL="960029" indent="0">
              <a:buNone/>
              <a:defRPr sz="4200">
                <a:solidFill>
                  <a:schemeClr val="tx1">
                    <a:tint val="75000"/>
                  </a:schemeClr>
                </a:solidFill>
              </a:defRPr>
            </a:lvl2pPr>
            <a:lvl3pPr marL="1920057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3pPr>
            <a:lvl4pPr marL="2880086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4pPr>
            <a:lvl5pPr marL="3840114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5pPr>
            <a:lvl6pPr marL="4800143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6pPr>
            <a:lvl7pPr marL="5760171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7pPr>
            <a:lvl8pPr marL="6720200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8pPr>
            <a:lvl9pPr marL="7680228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8442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80029" y="3833390"/>
            <a:ext cx="12240181" cy="913680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580215" y="3833390"/>
            <a:ext cx="12240181" cy="913680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8167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0" y="766679"/>
            <a:ext cx="24840367" cy="278337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3781" y="3530053"/>
            <a:ext cx="12183929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83781" y="5260078"/>
            <a:ext cx="12183929" cy="773678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580215" y="3530053"/>
            <a:ext cx="12243932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4580215" y="5260078"/>
            <a:ext cx="12243932" cy="773678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5036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63965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6630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2" y="960014"/>
            <a:ext cx="9288886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243932" y="2073365"/>
            <a:ext cx="14580215" cy="10233485"/>
          </a:xfrm>
        </p:spPr>
        <p:txBody>
          <a:bodyPr/>
          <a:lstStyle>
            <a:lvl1pPr>
              <a:defRPr sz="6719"/>
            </a:lvl1pPr>
            <a:lvl2pPr>
              <a:defRPr sz="5879"/>
            </a:lvl2pPr>
            <a:lvl3pPr>
              <a:defRPr sz="5040"/>
            </a:lvl3pPr>
            <a:lvl4pPr>
              <a:defRPr sz="4200"/>
            </a:lvl4pPr>
            <a:lvl5pPr>
              <a:defRPr sz="4200"/>
            </a:lvl5pPr>
            <a:lvl6pPr>
              <a:defRPr sz="4200"/>
            </a:lvl6pPr>
            <a:lvl7pPr>
              <a:defRPr sz="4200"/>
            </a:lvl7pPr>
            <a:lvl8pPr>
              <a:defRPr sz="4200"/>
            </a:lvl8pPr>
            <a:lvl9pPr>
              <a:defRPr sz="4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83782" y="4320064"/>
            <a:ext cx="9288886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44996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2" y="960014"/>
            <a:ext cx="9288886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243932" y="2073365"/>
            <a:ext cx="14580215" cy="10233485"/>
          </a:xfrm>
        </p:spPr>
        <p:txBody>
          <a:bodyPr anchor="t"/>
          <a:lstStyle>
            <a:lvl1pPr marL="0" indent="0">
              <a:buNone/>
              <a:defRPr sz="6719"/>
            </a:lvl1pPr>
            <a:lvl2pPr marL="960029" indent="0">
              <a:buNone/>
              <a:defRPr sz="5879"/>
            </a:lvl2pPr>
            <a:lvl3pPr marL="1920057" indent="0">
              <a:buNone/>
              <a:defRPr sz="5040"/>
            </a:lvl3pPr>
            <a:lvl4pPr marL="2880086" indent="0">
              <a:buNone/>
              <a:defRPr sz="4200"/>
            </a:lvl4pPr>
            <a:lvl5pPr marL="3840114" indent="0">
              <a:buNone/>
              <a:defRPr sz="4200"/>
            </a:lvl5pPr>
            <a:lvl6pPr marL="4800143" indent="0">
              <a:buNone/>
              <a:defRPr sz="4200"/>
            </a:lvl6pPr>
            <a:lvl7pPr marL="5760171" indent="0">
              <a:buNone/>
              <a:defRPr sz="4200"/>
            </a:lvl7pPr>
            <a:lvl8pPr marL="6720200" indent="0">
              <a:buNone/>
              <a:defRPr sz="4200"/>
            </a:lvl8pPr>
            <a:lvl9pPr marL="7680228" indent="0">
              <a:buNone/>
              <a:defRPr sz="42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83782" y="4320064"/>
            <a:ext cx="9288886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5197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2412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0610304" y="766678"/>
            <a:ext cx="6210092" cy="1220351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80029" y="766678"/>
            <a:ext cx="18270270" cy="1220351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9592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80029" y="766679"/>
            <a:ext cx="24840367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0029" y="3833390"/>
            <a:ext cx="24840367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80029" y="13346865"/>
            <a:ext cx="6480096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B305C1-0718-4474-8B3D-570FF031DC2F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540141" y="13346865"/>
            <a:ext cx="9720143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340300" y="13346865"/>
            <a:ext cx="6480096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0311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920057" rtl="0" eaLnBrk="1" latinLnBrk="0" hangingPunct="1">
        <a:lnSpc>
          <a:spcPct val="90000"/>
        </a:lnSpc>
        <a:spcBef>
          <a:spcPct val="0"/>
        </a:spcBef>
        <a:buNone/>
        <a:defRPr sz="923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0014" indent="-480014" algn="l" defTabSz="1920057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5879" kern="1200">
          <a:solidFill>
            <a:schemeClr val="tx1"/>
          </a:solidFill>
          <a:latin typeface="+mn-lt"/>
          <a:ea typeface="+mn-ea"/>
          <a:cs typeface="+mn-cs"/>
        </a:defRPr>
      </a:lvl1pPr>
      <a:lvl2pPr marL="14400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2pPr>
      <a:lvl3pPr marL="2400071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3pPr>
      <a:lvl4pPr marL="3360100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4320129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5280157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6240186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7200214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81602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1pPr>
      <a:lvl2pPr marL="960029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920057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3pPr>
      <a:lvl4pPr marL="2880086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3840114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4800143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5760171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672020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7680228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形 3">
            <a:extLst>
              <a:ext uri="{FF2B5EF4-FFF2-40B4-BE49-F238E27FC236}">
                <a16:creationId xmlns:a16="http://schemas.microsoft.com/office/drawing/2014/main" id="{3430904A-D507-0C74-E402-DC9C0F4A9B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68212" y="6752882"/>
            <a:ext cx="837021" cy="837021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995EEC42-4A7C-54ED-33CC-AC9A06693E8E}"/>
              </a:ext>
            </a:extLst>
          </p:cNvPr>
          <p:cNvSpPr txBox="1"/>
          <p:nvPr/>
        </p:nvSpPr>
        <p:spPr>
          <a:xfrm>
            <a:off x="8403589" y="7985272"/>
            <a:ext cx="2688486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 err="1"/>
              <a:t>PyTorch</a:t>
            </a:r>
            <a:r>
              <a:rPr lang="en-US" altLang="zh-CN" sz="2800" dirty="0"/>
              <a:t>/TensorFlow Issues</a:t>
            </a:r>
          </a:p>
          <a:p>
            <a:endParaRPr lang="zh-CN" altLang="en-US" sz="2000" dirty="0"/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3EC82FE5-EBC3-D564-0958-B8089472778E}"/>
              </a:ext>
            </a:extLst>
          </p:cNvPr>
          <p:cNvCxnSpPr>
            <a:cxnSpLocks/>
            <a:stCxn id="18" idx="3"/>
          </p:cNvCxnSpPr>
          <p:nvPr/>
        </p:nvCxnSpPr>
        <p:spPr>
          <a:xfrm flipV="1">
            <a:off x="7658454" y="4153095"/>
            <a:ext cx="490296" cy="749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形 9">
            <a:extLst>
              <a:ext uri="{FF2B5EF4-FFF2-40B4-BE49-F238E27FC236}">
                <a16:creationId xmlns:a16="http://schemas.microsoft.com/office/drawing/2014/main" id="{E3139BE0-B0DE-6AA1-40DE-A66D80B078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22733" y="7010398"/>
            <a:ext cx="832235" cy="832235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FE08F641-86C9-44FB-73E9-D2978ED8185A}"/>
              </a:ext>
            </a:extLst>
          </p:cNvPr>
          <p:cNvSpPr txBox="1"/>
          <p:nvPr/>
        </p:nvSpPr>
        <p:spPr>
          <a:xfrm>
            <a:off x="5214073" y="7985272"/>
            <a:ext cx="22266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/>
              <a:t>GitHub Issues</a:t>
            </a:r>
            <a:endParaRPr lang="zh-CN" altLang="en-US" sz="2800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F9B3BC-BFA5-8F60-0AF8-7F373E366849}"/>
              </a:ext>
            </a:extLst>
          </p:cNvPr>
          <p:cNvSpPr txBox="1"/>
          <p:nvPr/>
        </p:nvSpPr>
        <p:spPr>
          <a:xfrm>
            <a:off x="6680279" y="6935881"/>
            <a:ext cx="265683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Crawler &amp; Filter</a:t>
            </a:r>
          </a:p>
          <a:p>
            <a:endParaRPr lang="zh-CN" altLang="en-US" sz="2000" dirty="0"/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8A2F9D5F-9DA4-3C07-4923-FEEB4EFA0172}"/>
              </a:ext>
            </a:extLst>
          </p:cNvPr>
          <p:cNvSpPr/>
          <p:nvPr/>
        </p:nvSpPr>
        <p:spPr>
          <a:xfrm>
            <a:off x="5214073" y="3635595"/>
            <a:ext cx="2444381" cy="1049980"/>
          </a:xfrm>
          <a:prstGeom prst="roundRect">
            <a:avLst/>
          </a:prstGeom>
          <a:solidFill>
            <a:srgbClr val="DCEAF7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API Test Harness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E3EC259A-209B-B31C-526F-16CF8651FD9F}"/>
              </a:ext>
            </a:extLst>
          </p:cNvPr>
          <p:cNvSpPr/>
          <p:nvPr/>
        </p:nvSpPr>
        <p:spPr>
          <a:xfrm>
            <a:off x="8157691" y="3606101"/>
            <a:ext cx="3695084" cy="1049980"/>
          </a:xfrm>
          <a:prstGeom prst="roundRect">
            <a:avLst/>
          </a:prstGeom>
          <a:solidFill>
            <a:srgbClr val="DCEAF7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Structured Parameter</a:t>
            </a:r>
          </a:p>
          <a:p>
            <a:pPr algn="ctr"/>
            <a:r>
              <a:rPr lang="en-US" altLang="zh-CN" sz="28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Space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74A479A-A562-264E-060D-188ED4ABE995}"/>
              </a:ext>
            </a:extLst>
          </p:cNvPr>
          <p:cNvSpPr/>
          <p:nvPr/>
        </p:nvSpPr>
        <p:spPr>
          <a:xfrm>
            <a:off x="16110223" y="2211067"/>
            <a:ext cx="6712142" cy="6943992"/>
          </a:xfrm>
          <a:prstGeom prst="roundRect">
            <a:avLst/>
          </a:prstGeom>
          <a:solidFill>
            <a:srgbClr val="EAF1F8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altLang="zh-CN" sz="28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Parameter-Aware Mutation Engine</a:t>
            </a:r>
          </a:p>
          <a:p>
            <a:pPr algn="ctr"/>
            <a:endParaRPr lang="en-US" altLang="zh-CN" sz="2800" dirty="0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FE7E1AB-6B72-7BFC-FCAD-0E22A51488EF}"/>
              </a:ext>
            </a:extLst>
          </p:cNvPr>
          <p:cNvSpPr/>
          <p:nvPr/>
        </p:nvSpPr>
        <p:spPr>
          <a:xfrm>
            <a:off x="17278836" y="6903296"/>
            <a:ext cx="4249393" cy="1414617"/>
          </a:xfrm>
          <a:prstGeom prst="rect">
            <a:avLst/>
          </a:prstGeom>
          <a:solidFill>
            <a:schemeClr val="bg1"/>
          </a:solidFill>
          <a:ln w="38100">
            <a:solidFill>
              <a:srgbClr val="FFFF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2800" dirty="0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 algn="ctr"/>
            <a:r>
              <a:rPr lang="en-US" altLang="zh-CN" sz="28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Issue-Aware</a:t>
            </a:r>
          </a:p>
          <a:p>
            <a:pPr algn="ctr"/>
            <a:r>
              <a:rPr lang="en-US" altLang="zh-CN" sz="28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 Mutation</a:t>
            </a:r>
          </a:p>
          <a:p>
            <a:pPr algn="ctr"/>
            <a:endParaRPr lang="en-US" altLang="zh-CN" sz="2800" dirty="0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A9D3EA5B-2BCE-5B7F-E909-D9D5C83F0F98}"/>
              </a:ext>
            </a:extLst>
          </p:cNvPr>
          <p:cNvCxnSpPr>
            <a:cxnSpLocks/>
          </p:cNvCxnSpPr>
          <p:nvPr/>
        </p:nvCxnSpPr>
        <p:spPr>
          <a:xfrm>
            <a:off x="6981592" y="7614625"/>
            <a:ext cx="142199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8BDA7891-4C1D-19A8-4449-D3304019586F}"/>
              </a:ext>
            </a:extLst>
          </p:cNvPr>
          <p:cNvSpPr txBox="1"/>
          <p:nvPr/>
        </p:nvSpPr>
        <p:spPr>
          <a:xfrm>
            <a:off x="10631043" y="6903296"/>
            <a:ext cx="22266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/>
              <a:t>Extract</a:t>
            </a:r>
            <a:endParaRPr lang="en-US" altLang="zh-CN" sz="3200" dirty="0"/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8ED109FA-85B0-B05B-3B47-2ED770DB00C7}"/>
              </a:ext>
            </a:extLst>
          </p:cNvPr>
          <p:cNvCxnSpPr>
            <a:cxnSpLocks/>
          </p:cNvCxnSpPr>
          <p:nvPr/>
        </p:nvCxnSpPr>
        <p:spPr>
          <a:xfrm flipV="1">
            <a:off x="11285961" y="7614625"/>
            <a:ext cx="998559" cy="2426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0" name="图形 59">
            <a:extLst>
              <a:ext uri="{FF2B5EF4-FFF2-40B4-BE49-F238E27FC236}">
                <a16:creationId xmlns:a16="http://schemas.microsoft.com/office/drawing/2014/main" id="{B5504CC5-A8F7-0366-B329-10863A3741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646831" y="6603880"/>
            <a:ext cx="1483970" cy="1483970"/>
          </a:xfrm>
          <a:prstGeom prst="rect">
            <a:avLst/>
          </a:prstGeom>
        </p:spPr>
      </p:pic>
      <p:sp>
        <p:nvSpPr>
          <p:cNvPr id="61" name="文本框 60">
            <a:extLst>
              <a:ext uri="{FF2B5EF4-FFF2-40B4-BE49-F238E27FC236}">
                <a16:creationId xmlns:a16="http://schemas.microsoft.com/office/drawing/2014/main" id="{701C0B04-2578-FF14-B138-7AB6C9F8F44F}"/>
              </a:ext>
            </a:extLst>
          </p:cNvPr>
          <p:cNvSpPr txBox="1"/>
          <p:nvPr/>
        </p:nvSpPr>
        <p:spPr>
          <a:xfrm>
            <a:off x="12054978" y="8200454"/>
            <a:ext cx="26884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/>
              <a:t>Prior Knowledge</a:t>
            </a:r>
          </a:p>
          <a:p>
            <a:endParaRPr lang="zh-CN" altLang="en-US" sz="2000" dirty="0"/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789B4C6A-E968-54B4-A573-1B3A72E1C2A6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11852775" y="4131091"/>
            <a:ext cx="43174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8C538B25-15E3-E505-C20F-647DF5DFA07F}"/>
              </a:ext>
            </a:extLst>
          </p:cNvPr>
          <p:cNvSpPr txBox="1"/>
          <p:nvPr/>
        </p:nvSpPr>
        <p:spPr>
          <a:xfrm>
            <a:off x="19450857" y="4964843"/>
            <a:ext cx="1891916" cy="18158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endParaRPr lang="en-US" altLang="zh-CN" sz="2800" dirty="0"/>
          </a:p>
          <a:p>
            <a:pPr algn="ctr"/>
            <a:r>
              <a:rPr lang="en-US" altLang="zh-CN" sz="2800" dirty="0"/>
              <a:t>Long-term</a:t>
            </a:r>
          </a:p>
          <a:p>
            <a:pPr algn="ctr"/>
            <a:r>
              <a:rPr lang="en-US" altLang="zh-CN" sz="2800" dirty="0"/>
              <a:t>stagnation</a:t>
            </a:r>
          </a:p>
          <a:p>
            <a:pPr algn="ctr"/>
            <a:endParaRPr lang="zh-CN" altLang="en-US" sz="2800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C5B00B3-4747-53A3-C552-E88FDC8EE3AF}"/>
              </a:ext>
            </a:extLst>
          </p:cNvPr>
          <p:cNvSpPr txBox="1"/>
          <p:nvPr/>
        </p:nvSpPr>
        <p:spPr>
          <a:xfrm>
            <a:off x="14697303" y="4842273"/>
            <a:ext cx="28165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/>
              <a:t>Short-term stagnation</a:t>
            </a:r>
            <a:endParaRPr lang="en-US" altLang="zh-CN" sz="3200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6926613-838E-E7F7-8B95-A2705FE4F4EA}"/>
              </a:ext>
            </a:extLst>
          </p:cNvPr>
          <p:cNvSpPr txBox="1"/>
          <p:nvPr/>
        </p:nvSpPr>
        <p:spPr>
          <a:xfrm>
            <a:off x="7257191" y="11042582"/>
            <a:ext cx="14636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/>
              <a:t>Figure 1. Overview of our feedback-guided DL API fuzzing framework</a:t>
            </a:r>
            <a:endParaRPr lang="zh-CN" altLang="en-US" sz="36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32786E0-8C8C-3D6E-B075-4C46BE72E229}"/>
              </a:ext>
            </a:extLst>
          </p:cNvPr>
          <p:cNvSpPr txBox="1"/>
          <p:nvPr/>
        </p:nvSpPr>
        <p:spPr>
          <a:xfrm>
            <a:off x="14697303" y="3584317"/>
            <a:ext cx="2558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/>
              <a:t>Valid Seeds</a:t>
            </a:r>
            <a:endParaRPr lang="en-US" altLang="zh-CN" sz="3200" dirty="0"/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E075AD08-676D-5E4D-A69F-27DB32311DB5}"/>
              </a:ext>
            </a:extLst>
          </p:cNvPr>
          <p:cNvSpPr/>
          <p:nvPr/>
        </p:nvSpPr>
        <p:spPr>
          <a:xfrm>
            <a:off x="12284520" y="3628105"/>
            <a:ext cx="2688486" cy="1049980"/>
          </a:xfrm>
          <a:prstGeom prst="roundRect">
            <a:avLst/>
          </a:prstGeom>
          <a:solidFill>
            <a:srgbClr val="DCEAF7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Symbolic Seed Generation</a:t>
            </a: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6A13F20C-23C1-1C2C-02AA-BFF932C32A42}"/>
              </a:ext>
            </a:extLst>
          </p:cNvPr>
          <p:cNvCxnSpPr>
            <a:cxnSpLocks/>
            <a:stCxn id="22" idx="3"/>
            <a:endCxn id="51" idx="1"/>
          </p:cNvCxnSpPr>
          <p:nvPr/>
        </p:nvCxnSpPr>
        <p:spPr>
          <a:xfrm flipV="1">
            <a:off x="14973006" y="4134965"/>
            <a:ext cx="2360873" cy="1813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>
            <a:extLst>
              <a:ext uri="{FF2B5EF4-FFF2-40B4-BE49-F238E27FC236}">
                <a16:creationId xmlns:a16="http://schemas.microsoft.com/office/drawing/2014/main" id="{759ACCC7-C258-D96C-2971-472018E3F2BF}"/>
              </a:ext>
            </a:extLst>
          </p:cNvPr>
          <p:cNvSpPr/>
          <p:nvPr/>
        </p:nvSpPr>
        <p:spPr>
          <a:xfrm>
            <a:off x="17333879" y="3427656"/>
            <a:ext cx="4233956" cy="1414617"/>
          </a:xfrm>
          <a:prstGeom prst="rect">
            <a:avLst/>
          </a:prstGeom>
          <a:solidFill>
            <a:schemeClr val="bg1"/>
          </a:solidFill>
          <a:ln w="38100">
            <a:solidFill>
              <a:srgbClr val="FFFF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2800" dirty="0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 algn="ctr"/>
            <a:r>
              <a:rPr lang="en-US" altLang="zh-CN" sz="28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Structure-Aware Mutation</a:t>
            </a:r>
          </a:p>
          <a:p>
            <a:pPr algn="ctr"/>
            <a:endParaRPr lang="en-US" altLang="zh-CN" sz="2800" dirty="0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05B4D0AE-3CF6-A300-8DE4-494550528696}"/>
              </a:ext>
            </a:extLst>
          </p:cNvPr>
          <p:cNvCxnSpPr>
            <a:cxnSpLocks/>
            <a:stCxn id="51" idx="2"/>
            <a:endCxn id="22" idx="2"/>
          </p:cNvCxnSpPr>
          <p:nvPr/>
        </p:nvCxnSpPr>
        <p:spPr>
          <a:xfrm rot="5400000" flipH="1">
            <a:off x="16457716" y="1849132"/>
            <a:ext cx="164188" cy="5822094"/>
          </a:xfrm>
          <a:prstGeom prst="bentConnector3">
            <a:avLst>
              <a:gd name="adj1" fmla="val -616593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1C6D8118-6F45-9FF6-CACD-1D318AC7CB8A}"/>
              </a:ext>
            </a:extLst>
          </p:cNvPr>
          <p:cNvCxnSpPr>
            <a:cxnSpLocks/>
          </p:cNvCxnSpPr>
          <p:nvPr/>
        </p:nvCxnSpPr>
        <p:spPr>
          <a:xfrm flipH="1">
            <a:off x="19418047" y="4842273"/>
            <a:ext cx="47324" cy="206102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079D6F1F-5F86-CEC0-88CA-A5B2405173F0}"/>
              </a:ext>
            </a:extLst>
          </p:cNvPr>
          <p:cNvCxnSpPr>
            <a:cxnSpLocks/>
          </p:cNvCxnSpPr>
          <p:nvPr/>
        </p:nvCxnSpPr>
        <p:spPr>
          <a:xfrm>
            <a:off x="14198023" y="7602036"/>
            <a:ext cx="3057824" cy="0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4027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23241</TotalTime>
  <Words>46</Words>
  <Application>Microsoft Office PowerPoint</Application>
  <PresentationFormat>自定义</PresentationFormat>
  <Paragraphs>21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Administrator</cp:lastModifiedBy>
  <cp:revision>14</cp:revision>
  <dcterms:created xsi:type="dcterms:W3CDTF">2026-06-03T08:16:52Z</dcterms:created>
  <dcterms:modified xsi:type="dcterms:W3CDTF">2026-07-17T03:27:07Z</dcterms:modified>
</cp:coreProperties>
</file>