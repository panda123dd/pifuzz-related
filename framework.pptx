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88004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F1F8"/>
    <a:srgbClr val="FAF1F8"/>
    <a:srgbClr val="F3F6F8"/>
    <a:srgbClr val="333333"/>
    <a:srgbClr val="F3F7F8"/>
    <a:srgbClr val="F1F6F8"/>
    <a:srgbClr val="FFFFFF"/>
    <a:srgbClr val="EEF4FA"/>
    <a:srgbClr val="FFF2CC"/>
    <a:srgbClr val="DCEA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3" y="2356703"/>
            <a:ext cx="21600319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3" y="7563446"/>
            <a:ext cx="21600319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865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432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29" y="3590055"/>
            <a:ext cx="24840367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29" y="9636811"/>
            <a:ext cx="24840367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75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442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29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5" y="3833390"/>
            <a:ext cx="12240181" cy="91368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8167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766679"/>
            <a:ext cx="24840367" cy="278337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1" y="3530053"/>
            <a:ext cx="12183929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1" y="5260078"/>
            <a:ext cx="12183929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3530053"/>
            <a:ext cx="1224393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5260078"/>
            <a:ext cx="12243932" cy="77367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5036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396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6630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2073365"/>
            <a:ext cx="14580215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499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2" y="960014"/>
            <a:ext cx="9288886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2073365"/>
            <a:ext cx="14580215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2" y="4320064"/>
            <a:ext cx="9288886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19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412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4" y="766678"/>
            <a:ext cx="6210092" cy="122035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29" y="766678"/>
            <a:ext cx="18270270" cy="122035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59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29" y="766679"/>
            <a:ext cx="24840367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29" y="3833390"/>
            <a:ext cx="24840367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29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305C1-0718-4474-8B3D-570FF031DC2F}" type="datetimeFigureOut">
              <a:rPr lang="zh-CN" altLang="en-US" smtClean="0"/>
              <a:t>2026/7/7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3346865"/>
            <a:ext cx="972014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300" y="13346865"/>
            <a:ext cx="648009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026FB2-512A-4503-86E6-CE62D7E175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311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3430904A-D507-0C74-E402-DC9C0F4A9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41048" y="7913024"/>
            <a:ext cx="837021" cy="83702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95EEC42-4A7C-54ED-33CC-AC9A06693E8E}"/>
              </a:ext>
            </a:extLst>
          </p:cNvPr>
          <p:cNvSpPr txBox="1"/>
          <p:nvPr/>
        </p:nvSpPr>
        <p:spPr>
          <a:xfrm>
            <a:off x="4876425" y="9145414"/>
            <a:ext cx="268848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 err="1"/>
              <a:t>PyTorch</a:t>
            </a:r>
            <a:r>
              <a:rPr lang="en-US" altLang="zh-CN" sz="2400" dirty="0"/>
              <a:t>/TensorFlow Issues</a:t>
            </a:r>
          </a:p>
          <a:p>
            <a:endParaRPr lang="zh-CN" altLang="en-US" sz="2000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EC82FE5-EBC3-D564-0958-B8089472778E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4537883" y="5292700"/>
            <a:ext cx="244948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>
            <a:extLst>
              <a:ext uri="{FF2B5EF4-FFF2-40B4-BE49-F238E27FC236}">
                <a16:creationId xmlns:a16="http://schemas.microsoft.com/office/drawing/2014/main" id="{E3139BE0-B0DE-6AA1-40DE-A66D80B07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5569" y="8170540"/>
            <a:ext cx="832235" cy="83223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E08F641-86C9-44FB-73E9-D2978ED8185A}"/>
              </a:ext>
            </a:extLst>
          </p:cNvPr>
          <p:cNvSpPr txBox="1"/>
          <p:nvPr/>
        </p:nvSpPr>
        <p:spPr>
          <a:xfrm>
            <a:off x="1686909" y="9145414"/>
            <a:ext cx="22266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GitHub Issues</a:t>
            </a:r>
            <a:endParaRPr lang="zh-CN" altLang="en-US" sz="2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F9B3BC-BFA5-8F60-0AF8-7F373E366849}"/>
              </a:ext>
            </a:extLst>
          </p:cNvPr>
          <p:cNvSpPr txBox="1"/>
          <p:nvPr/>
        </p:nvSpPr>
        <p:spPr>
          <a:xfrm>
            <a:off x="3153115" y="8096023"/>
            <a:ext cx="26568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Crawler &amp; </a:t>
            </a:r>
            <a:r>
              <a:rPr lang="en-US" altLang="zh-CN" sz="2400" dirty="0" err="1"/>
              <a:t>Fileter</a:t>
            </a:r>
            <a:endParaRPr lang="en-US" altLang="zh-CN" sz="2400" dirty="0"/>
          </a:p>
          <a:p>
            <a:endParaRPr lang="zh-CN" altLang="en-US" sz="2000" dirty="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8A2F9D5F-9DA4-3C07-4923-FEEB4EFA0172}"/>
              </a:ext>
            </a:extLst>
          </p:cNvPr>
          <p:cNvSpPr/>
          <p:nvPr/>
        </p:nvSpPr>
        <p:spPr>
          <a:xfrm>
            <a:off x="2093502" y="4767710"/>
            <a:ext cx="2444381" cy="1049980"/>
          </a:xfrm>
          <a:prstGeom prst="roundRect">
            <a:avLst/>
          </a:prstGeom>
          <a:solidFill>
            <a:srgbClr val="DCEAF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API Test Harness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3EC259A-209B-B31C-526F-16CF8651FD9F}"/>
              </a:ext>
            </a:extLst>
          </p:cNvPr>
          <p:cNvSpPr/>
          <p:nvPr/>
        </p:nvSpPr>
        <p:spPr>
          <a:xfrm>
            <a:off x="6987366" y="4767710"/>
            <a:ext cx="3374529" cy="1049980"/>
          </a:xfrm>
          <a:prstGeom prst="roundRect">
            <a:avLst/>
          </a:prstGeom>
          <a:solidFill>
            <a:srgbClr val="DCEAF7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Structured Parameter</a:t>
            </a: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Space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74A479A-A562-264E-060D-188ED4ABE995}"/>
              </a:ext>
            </a:extLst>
          </p:cNvPr>
          <p:cNvSpPr/>
          <p:nvPr/>
        </p:nvSpPr>
        <p:spPr>
          <a:xfrm>
            <a:off x="12377683" y="3333751"/>
            <a:ext cx="13742853" cy="6653716"/>
          </a:xfrm>
          <a:prstGeom prst="roundRect">
            <a:avLst/>
          </a:prstGeom>
          <a:solidFill>
            <a:srgbClr val="EAF1F8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Feedback-Guided Scheduler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5404F9B-4AF6-BD36-8CA9-C683987A86FD}"/>
              </a:ext>
            </a:extLst>
          </p:cNvPr>
          <p:cNvCxnSpPr>
            <a:cxnSpLocks/>
          </p:cNvCxnSpPr>
          <p:nvPr/>
        </p:nvCxnSpPr>
        <p:spPr>
          <a:xfrm>
            <a:off x="17595796" y="5165911"/>
            <a:ext cx="333572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1FE7E1AB-6B72-7BFC-FCAD-0E22A51488EF}"/>
              </a:ext>
            </a:extLst>
          </p:cNvPr>
          <p:cNvSpPr/>
          <p:nvPr/>
        </p:nvSpPr>
        <p:spPr>
          <a:xfrm>
            <a:off x="20931518" y="4458602"/>
            <a:ext cx="4233956" cy="1414617"/>
          </a:xfrm>
          <a:prstGeom prst="rect">
            <a:avLst/>
          </a:prstGeom>
          <a:solidFill>
            <a:schemeClr val="bg1"/>
          </a:solidFill>
          <a:ln w="38100">
            <a:solidFill>
              <a:srgbClr val="FFFF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Coverage-Guided Parameter Mutation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B35DD06-CFE3-801A-3CA9-8B1DA8A618D1}"/>
              </a:ext>
            </a:extLst>
          </p:cNvPr>
          <p:cNvSpPr/>
          <p:nvPr/>
        </p:nvSpPr>
        <p:spPr>
          <a:xfrm>
            <a:off x="16744414" y="7004691"/>
            <a:ext cx="5129478" cy="1414617"/>
          </a:xfrm>
          <a:prstGeom prst="rect">
            <a:avLst/>
          </a:prstGeom>
          <a:solidFill>
            <a:srgbClr val="FFF2CC"/>
          </a:solidFill>
          <a:ln w="381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Issue-Guided Parameter </a:t>
            </a: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Mutation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F061437-2427-B668-91B5-4912D5C1B5C5}"/>
              </a:ext>
            </a:extLst>
          </p:cNvPr>
          <p:cNvSpPr/>
          <p:nvPr/>
        </p:nvSpPr>
        <p:spPr>
          <a:xfrm>
            <a:off x="13361840" y="4458602"/>
            <a:ext cx="4233956" cy="1414617"/>
          </a:xfrm>
          <a:prstGeom prst="rect">
            <a:avLst/>
          </a:prstGeom>
          <a:solidFill>
            <a:schemeClr val="bg1"/>
          </a:solidFill>
          <a:ln w="38100">
            <a:solidFill>
              <a:srgbClr val="FFFF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ea typeface="黑体" panose="02010609060101010101" pitchFamily="49" charset="-122"/>
                <a:cs typeface="Arial" panose="020B0604020202020204" pitchFamily="34" charset="0"/>
              </a:rPr>
              <a:t>Constraint-Guided Input Synthesis </a:t>
            </a:r>
          </a:p>
          <a:p>
            <a:pPr algn="ctr"/>
            <a:endParaRPr lang="en-US" altLang="zh-CN" sz="2400" dirty="0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A9D3EA5B-2BCE-5B7F-E909-D9D5C83F0F98}"/>
              </a:ext>
            </a:extLst>
          </p:cNvPr>
          <p:cNvCxnSpPr>
            <a:cxnSpLocks/>
          </p:cNvCxnSpPr>
          <p:nvPr/>
        </p:nvCxnSpPr>
        <p:spPr>
          <a:xfrm>
            <a:off x="3454428" y="8774767"/>
            <a:ext cx="14219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4A82B308-77F4-D4BE-9E78-8C24AA1D1B5F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>
            <a:off x="15447032" y="5865576"/>
            <a:ext cx="1297382" cy="1846425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8BDA7891-4C1D-19A8-4449-D3304019586F}"/>
              </a:ext>
            </a:extLst>
          </p:cNvPr>
          <p:cNvSpPr txBox="1"/>
          <p:nvPr/>
        </p:nvSpPr>
        <p:spPr>
          <a:xfrm>
            <a:off x="7103879" y="8063438"/>
            <a:ext cx="22266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Extract</a:t>
            </a:r>
            <a:endParaRPr lang="en-US" altLang="zh-CN" sz="3200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ED109FA-85B0-B05B-3B47-2ED770DB00C7}"/>
              </a:ext>
            </a:extLst>
          </p:cNvPr>
          <p:cNvCxnSpPr>
            <a:cxnSpLocks/>
          </p:cNvCxnSpPr>
          <p:nvPr/>
        </p:nvCxnSpPr>
        <p:spPr>
          <a:xfrm flipV="1">
            <a:off x="7758797" y="8774767"/>
            <a:ext cx="998559" cy="24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形 59">
            <a:extLst>
              <a:ext uri="{FF2B5EF4-FFF2-40B4-BE49-F238E27FC236}">
                <a16:creationId xmlns:a16="http://schemas.microsoft.com/office/drawing/2014/main" id="{B5504CC5-A8F7-0366-B329-10863A3741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9667" y="7764022"/>
            <a:ext cx="1483970" cy="1483970"/>
          </a:xfrm>
          <a:prstGeom prst="rect">
            <a:avLst/>
          </a:prstGeom>
        </p:spPr>
      </p:pic>
      <p:sp>
        <p:nvSpPr>
          <p:cNvPr id="61" name="文本框 60">
            <a:extLst>
              <a:ext uri="{FF2B5EF4-FFF2-40B4-BE49-F238E27FC236}">
                <a16:creationId xmlns:a16="http://schemas.microsoft.com/office/drawing/2014/main" id="{701C0B04-2578-FF14-B138-7AB6C9F8F44F}"/>
              </a:ext>
            </a:extLst>
          </p:cNvPr>
          <p:cNvSpPr txBox="1"/>
          <p:nvPr/>
        </p:nvSpPr>
        <p:spPr>
          <a:xfrm>
            <a:off x="8527814" y="9360596"/>
            <a:ext cx="26884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Prior Knowledge</a:t>
            </a:r>
          </a:p>
          <a:p>
            <a:endParaRPr lang="zh-CN" altLang="en-US" sz="2000" dirty="0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89B4C6A-E968-54B4-A573-1B3A72E1C2A6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361895" y="5292700"/>
            <a:ext cx="299994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8C538B25-15E3-E505-C20F-647DF5DFA07F}"/>
              </a:ext>
            </a:extLst>
          </p:cNvPr>
          <p:cNvSpPr txBox="1"/>
          <p:nvPr/>
        </p:nvSpPr>
        <p:spPr>
          <a:xfrm>
            <a:off x="23179372" y="6146032"/>
            <a:ext cx="1891916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endParaRPr lang="en-US" altLang="zh-CN" sz="2400" dirty="0"/>
          </a:p>
          <a:p>
            <a:pPr algn="ctr"/>
            <a:r>
              <a:rPr lang="en-US" altLang="zh-CN" sz="2400" dirty="0"/>
              <a:t>Long-term</a:t>
            </a:r>
          </a:p>
          <a:p>
            <a:pPr algn="ctr"/>
            <a:r>
              <a:rPr lang="en-US" altLang="zh-CN" sz="2400" dirty="0"/>
              <a:t>stagnation</a:t>
            </a:r>
          </a:p>
          <a:p>
            <a:pPr algn="ctr"/>
            <a:endParaRPr lang="zh-CN" altLang="en-US" sz="2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E32BEB-3E44-9820-8E20-58322E2B34F5}"/>
              </a:ext>
            </a:extLst>
          </p:cNvPr>
          <p:cNvSpPr txBox="1"/>
          <p:nvPr/>
        </p:nvSpPr>
        <p:spPr>
          <a:xfrm>
            <a:off x="13879387" y="6213561"/>
            <a:ext cx="1372921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altLang="zh-CN" sz="2400" dirty="0"/>
              <a:t>New</a:t>
            </a:r>
          </a:p>
          <a:p>
            <a:pPr algn="ctr"/>
            <a:r>
              <a:rPr lang="en-US" altLang="zh-CN" sz="2400" dirty="0"/>
              <a:t>Coverage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C5B00B3-4747-53A3-C552-E88FDC8EE3AF}"/>
              </a:ext>
            </a:extLst>
          </p:cNvPr>
          <p:cNvSpPr txBox="1"/>
          <p:nvPr/>
        </p:nvSpPr>
        <p:spPr>
          <a:xfrm>
            <a:off x="17958937" y="5374824"/>
            <a:ext cx="28165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Short-term stagnation</a:t>
            </a:r>
            <a:endParaRPr lang="en-US" altLang="zh-CN" sz="32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6926613-838E-E7F7-8B95-A2705FE4F4EA}"/>
              </a:ext>
            </a:extLst>
          </p:cNvPr>
          <p:cNvSpPr txBox="1"/>
          <p:nvPr/>
        </p:nvSpPr>
        <p:spPr>
          <a:xfrm>
            <a:off x="8249467" y="10825180"/>
            <a:ext cx="14636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Figure 1. Overview of our feedback-guided DL API fuzzing framework</a:t>
            </a:r>
            <a:endParaRPr lang="zh-CN" altLang="en-US" sz="3600" dirty="0"/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A610B70C-F08E-56BD-0E79-4503A1B906D0}"/>
              </a:ext>
            </a:extLst>
          </p:cNvPr>
          <p:cNvCxnSpPr>
            <a:cxnSpLocks/>
            <a:endCxn id="41" idx="3"/>
          </p:cNvCxnSpPr>
          <p:nvPr/>
        </p:nvCxnSpPr>
        <p:spPr>
          <a:xfrm rot="5400000">
            <a:off x="21460788" y="6286324"/>
            <a:ext cx="1838781" cy="101257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218992FE-E34D-E569-FA3C-D2D1ED830EF8}"/>
              </a:ext>
            </a:extLst>
          </p:cNvPr>
          <p:cNvCxnSpPr>
            <a:cxnSpLocks/>
          </p:cNvCxnSpPr>
          <p:nvPr/>
        </p:nvCxnSpPr>
        <p:spPr>
          <a:xfrm flipH="1">
            <a:off x="17595796" y="5292700"/>
            <a:ext cx="333572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786E0-8C8C-3D6E-B075-4C46BE72E229}"/>
              </a:ext>
            </a:extLst>
          </p:cNvPr>
          <p:cNvSpPr txBox="1"/>
          <p:nvPr/>
        </p:nvSpPr>
        <p:spPr>
          <a:xfrm>
            <a:off x="17958937" y="4611002"/>
            <a:ext cx="2816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Valid inputs</a:t>
            </a:r>
            <a:endParaRPr lang="en-US" altLang="zh-CN" sz="3200" dirty="0"/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E894B1D2-7116-6C5B-539C-01C23C56891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0840127" y="8419308"/>
            <a:ext cx="8469026" cy="304222"/>
          </a:xfrm>
          <a:prstGeom prst="bentConnector2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027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8889</TotalTime>
  <Words>48</Words>
  <Application>Microsoft Office PowerPoint</Application>
  <PresentationFormat>自定义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11</cp:revision>
  <dcterms:created xsi:type="dcterms:W3CDTF">2026-06-03T08:16:52Z</dcterms:created>
  <dcterms:modified xsi:type="dcterms:W3CDTF">2026-07-07T03:25:12Z</dcterms:modified>
</cp:coreProperties>
</file>