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8800425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1F8"/>
    <a:srgbClr val="FAF1F8"/>
    <a:srgbClr val="F3F6F8"/>
    <a:srgbClr val="333333"/>
    <a:srgbClr val="F3F7F8"/>
    <a:srgbClr val="F1F6F8"/>
    <a:srgbClr val="FFFFFF"/>
    <a:srgbClr val="EEF4FA"/>
    <a:srgbClr val="FFF2CC"/>
    <a:srgbClr val="DCE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58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53" y="2356703"/>
            <a:ext cx="21600319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7563446"/>
            <a:ext cx="21600319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05C1-0718-4474-8B3D-570FF031DC2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26FB2-512A-4503-86E6-CE62D7E17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865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05C1-0718-4474-8B3D-570FF031DC2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26FB2-512A-4503-86E6-CE62D7E17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325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29" y="3590055"/>
            <a:ext cx="24840367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29" y="9636811"/>
            <a:ext cx="24840367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05C1-0718-4474-8B3D-570FF031DC2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26FB2-512A-4503-86E6-CE62D7E17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442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3833390"/>
            <a:ext cx="12240181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3833390"/>
            <a:ext cx="12240181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05C1-0718-4474-8B3D-570FF031DC2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26FB2-512A-4503-86E6-CE62D7E17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167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766679"/>
            <a:ext cx="24840367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1" y="3530053"/>
            <a:ext cx="12183929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1" y="5260078"/>
            <a:ext cx="12183929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5" y="3530053"/>
            <a:ext cx="1224393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5" y="5260078"/>
            <a:ext cx="12243932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05C1-0718-4474-8B3D-570FF031DC2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26FB2-512A-4503-86E6-CE62D7E17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036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05C1-0718-4474-8B3D-570FF031DC2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26FB2-512A-4503-86E6-CE62D7E17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396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05C1-0718-4474-8B3D-570FF031DC2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26FB2-512A-4503-86E6-CE62D7E17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63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960014"/>
            <a:ext cx="9288886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2073365"/>
            <a:ext cx="14580215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4320064"/>
            <a:ext cx="9288886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05C1-0718-4474-8B3D-570FF031DC2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26FB2-512A-4503-86E6-CE62D7E17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499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960014"/>
            <a:ext cx="9288886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2073365"/>
            <a:ext cx="14580215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4320064"/>
            <a:ext cx="9288886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05C1-0718-4474-8B3D-570FF031DC2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26FB2-512A-4503-86E6-CE62D7E17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197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05C1-0718-4474-8B3D-570FF031DC2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26FB2-512A-4503-86E6-CE62D7E17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41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4" y="766678"/>
            <a:ext cx="6210092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29" y="766678"/>
            <a:ext cx="18270270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05C1-0718-4474-8B3D-570FF031DC2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26FB2-512A-4503-86E6-CE62D7E17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592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766679"/>
            <a:ext cx="24840367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3833390"/>
            <a:ext cx="24840367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13346865"/>
            <a:ext cx="64800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305C1-0718-4474-8B3D-570FF031DC2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13346865"/>
            <a:ext cx="972014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13346865"/>
            <a:ext cx="64800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26FB2-512A-4503-86E6-CE62D7E17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311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3430904A-D507-0C74-E402-DC9C0F4A9B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68212" y="6752882"/>
            <a:ext cx="837021" cy="83702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95EEC42-4A7C-54ED-33CC-AC9A06693E8E}"/>
              </a:ext>
            </a:extLst>
          </p:cNvPr>
          <p:cNvSpPr txBox="1"/>
          <p:nvPr/>
        </p:nvSpPr>
        <p:spPr>
          <a:xfrm>
            <a:off x="8403589" y="7985272"/>
            <a:ext cx="268848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/>
              <a:t>PyTorch</a:t>
            </a:r>
            <a:r>
              <a:rPr lang="en-US" altLang="zh-CN" sz="2800" dirty="0"/>
              <a:t>/TensorFlow Issues</a:t>
            </a:r>
          </a:p>
          <a:p>
            <a:endParaRPr lang="zh-CN" altLang="en-US" sz="20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EC82FE5-EBC3-D564-0958-B8089472778E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7658454" y="4153095"/>
            <a:ext cx="490296" cy="74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形 9">
            <a:extLst>
              <a:ext uri="{FF2B5EF4-FFF2-40B4-BE49-F238E27FC236}">
                <a16:creationId xmlns:a16="http://schemas.microsoft.com/office/drawing/2014/main" id="{E3139BE0-B0DE-6AA1-40DE-A66D80B078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2733" y="7010398"/>
            <a:ext cx="832235" cy="83223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E08F641-86C9-44FB-73E9-D2978ED8185A}"/>
              </a:ext>
            </a:extLst>
          </p:cNvPr>
          <p:cNvSpPr txBox="1"/>
          <p:nvPr/>
        </p:nvSpPr>
        <p:spPr>
          <a:xfrm>
            <a:off x="5214073" y="7985272"/>
            <a:ext cx="2226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GitHub Issues</a:t>
            </a:r>
            <a:endParaRPr lang="zh-CN" altLang="en-US" sz="2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0F9B3BC-BFA5-8F60-0AF8-7F373E366849}"/>
              </a:ext>
            </a:extLst>
          </p:cNvPr>
          <p:cNvSpPr txBox="1"/>
          <p:nvPr/>
        </p:nvSpPr>
        <p:spPr>
          <a:xfrm>
            <a:off x="6680279" y="6935881"/>
            <a:ext cx="26568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Crawler &amp; Filter</a:t>
            </a:r>
          </a:p>
          <a:p>
            <a:endParaRPr lang="zh-CN" altLang="en-US" sz="2000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A2F9D5F-9DA4-3C07-4923-FEEB4EFA0172}"/>
              </a:ext>
            </a:extLst>
          </p:cNvPr>
          <p:cNvSpPr/>
          <p:nvPr/>
        </p:nvSpPr>
        <p:spPr>
          <a:xfrm>
            <a:off x="5214073" y="3635595"/>
            <a:ext cx="2444381" cy="1049980"/>
          </a:xfrm>
          <a:prstGeom prst="roundRect">
            <a:avLst/>
          </a:prstGeom>
          <a:solidFill>
            <a:srgbClr val="DCEAF7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API Test Harness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3EC259A-209B-B31C-526F-16CF8651FD9F}"/>
              </a:ext>
            </a:extLst>
          </p:cNvPr>
          <p:cNvSpPr/>
          <p:nvPr/>
        </p:nvSpPr>
        <p:spPr>
          <a:xfrm>
            <a:off x="8157691" y="3606101"/>
            <a:ext cx="3695084" cy="1049980"/>
          </a:xfrm>
          <a:prstGeom prst="roundRect">
            <a:avLst/>
          </a:prstGeom>
          <a:solidFill>
            <a:srgbClr val="DCEAF7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Structured Parameter</a:t>
            </a:r>
          </a:p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Space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74A479A-A562-264E-060D-188ED4ABE995}"/>
              </a:ext>
            </a:extLst>
          </p:cNvPr>
          <p:cNvSpPr/>
          <p:nvPr/>
        </p:nvSpPr>
        <p:spPr>
          <a:xfrm>
            <a:off x="16998008" y="2249375"/>
            <a:ext cx="6712142" cy="6943992"/>
          </a:xfrm>
          <a:prstGeom prst="roundRect">
            <a:avLst/>
          </a:prstGeom>
          <a:solidFill>
            <a:srgbClr val="EAF1F8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Parameter-Aware Mutation Engine</a:t>
            </a:r>
          </a:p>
          <a:p>
            <a:pPr algn="ctr"/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FE7E1AB-6B72-7BFC-FCAD-0E22A51488EF}"/>
              </a:ext>
            </a:extLst>
          </p:cNvPr>
          <p:cNvSpPr/>
          <p:nvPr/>
        </p:nvSpPr>
        <p:spPr>
          <a:xfrm>
            <a:off x="18119443" y="6849438"/>
            <a:ext cx="4249393" cy="1414617"/>
          </a:xfrm>
          <a:prstGeom prst="rect">
            <a:avLst/>
          </a:prstGeom>
          <a:solidFill>
            <a:schemeClr val="bg1"/>
          </a:solidFill>
          <a:ln w="38100">
            <a:solidFill>
              <a:srgbClr val="FFFF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Issue-Guided</a:t>
            </a:r>
          </a:p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Mutation</a:t>
            </a:r>
          </a:p>
          <a:p>
            <a:pPr algn="ctr"/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9D3EA5B-2BCE-5B7F-E909-D9D5C83F0F98}"/>
              </a:ext>
            </a:extLst>
          </p:cNvPr>
          <p:cNvCxnSpPr>
            <a:cxnSpLocks/>
          </p:cNvCxnSpPr>
          <p:nvPr/>
        </p:nvCxnSpPr>
        <p:spPr>
          <a:xfrm>
            <a:off x="6981592" y="7614625"/>
            <a:ext cx="142199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8BDA7891-4C1D-19A8-4449-D3304019586F}"/>
              </a:ext>
            </a:extLst>
          </p:cNvPr>
          <p:cNvSpPr txBox="1"/>
          <p:nvPr/>
        </p:nvSpPr>
        <p:spPr>
          <a:xfrm>
            <a:off x="10631043" y="6903296"/>
            <a:ext cx="22266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Extract</a:t>
            </a:r>
            <a:endParaRPr lang="en-US" altLang="zh-CN" sz="3200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8ED109FA-85B0-B05B-3B47-2ED770DB00C7}"/>
              </a:ext>
            </a:extLst>
          </p:cNvPr>
          <p:cNvCxnSpPr>
            <a:cxnSpLocks/>
          </p:cNvCxnSpPr>
          <p:nvPr/>
        </p:nvCxnSpPr>
        <p:spPr>
          <a:xfrm flipV="1">
            <a:off x="11285961" y="7614625"/>
            <a:ext cx="998559" cy="242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形 59">
            <a:extLst>
              <a:ext uri="{FF2B5EF4-FFF2-40B4-BE49-F238E27FC236}">
                <a16:creationId xmlns:a16="http://schemas.microsoft.com/office/drawing/2014/main" id="{B5504CC5-A8F7-0366-B329-10863A3741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50795" y="6703799"/>
            <a:ext cx="1483970" cy="1483970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701C0B04-2578-FF14-B138-7AB6C9F8F44F}"/>
              </a:ext>
            </a:extLst>
          </p:cNvPr>
          <p:cNvSpPr txBox="1"/>
          <p:nvPr/>
        </p:nvSpPr>
        <p:spPr>
          <a:xfrm>
            <a:off x="12049310" y="8043316"/>
            <a:ext cx="33882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Issue-Derived Priors</a:t>
            </a:r>
          </a:p>
          <a:p>
            <a:endParaRPr lang="zh-CN" altLang="en-US" sz="2000" dirty="0"/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789B4C6A-E968-54B4-A573-1B3A72E1C2A6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852775" y="4131091"/>
            <a:ext cx="4317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C538B25-15E3-E505-C20F-647DF5DFA07F}"/>
              </a:ext>
            </a:extLst>
          </p:cNvPr>
          <p:cNvSpPr txBox="1"/>
          <p:nvPr/>
        </p:nvSpPr>
        <p:spPr>
          <a:xfrm>
            <a:off x="20087989" y="4764178"/>
            <a:ext cx="2770514" cy="224676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endParaRPr lang="en-US" altLang="zh-CN" sz="2800" dirty="0"/>
          </a:p>
          <a:p>
            <a:pPr algn="ctr"/>
            <a:r>
              <a:rPr lang="en-US" altLang="zh-CN" sz="2800" dirty="0"/>
              <a:t>Long-Term Coverage</a:t>
            </a:r>
          </a:p>
          <a:p>
            <a:pPr algn="ctr"/>
            <a:r>
              <a:rPr lang="en-US" altLang="zh-CN" sz="2800" dirty="0"/>
              <a:t>Stagnation</a:t>
            </a:r>
          </a:p>
          <a:p>
            <a:pPr algn="ctr"/>
            <a:endParaRPr lang="zh-CN" altLang="en-US" sz="28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C5B00B3-4747-53A3-C552-E88FDC8EE3AF}"/>
              </a:ext>
            </a:extLst>
          </p:cNvPr>
          <p:cNvSpPr txBox="1"/>
          <p:nvPr/>
        </p:nvSpPr>
        <p:spPr>
          <a:xfrm>
            <a:off x="14651229" y="4441491"/>
            <a:ext cx="27605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Short-Term Coverage Stagnation</a:t>
            </a:r>
            <a:endParaRPr lang="en-US" altLang="zh-CN" sz="3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926613-838E-E7F7-8B95-A2705FE4F4EA}"/>
              </a:ext>
            </a:extLst>
          </p:cNvPr>
          <p:cNvSpPr txBox="1"/>
          <p:nvPr/>
        </p:nvSpPr>
        <p:spPr>
          <a:xfrm>
            <a:off x="8787063" y="10784697"/>
            <a:ext cx="14636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Figure 1. Overview of Parameter-Aware DL API Fuzzing</a:t>
            </a:r>
            <a:endParaRPr lang="zh-CN" altLang="en-US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2786E0-8C8C-3D6E-B075-4C46BE72E229}"/>
              </a:ext>
            </a:extLst>
          </p:cNvPr>
          <p:cNvSpPr txBox="1"/>
          <p:nvPr/>
        </p:nvSpPr>
        <p:spPr>
          <a:xfrm>
            <a:off x="14697303" y="3584317"/>
            <a:ext cx="2558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Valid Seeds</a:t>
            </a:r>
            <a:endParaRPr lang="en-US" altLang="zh-CN" sz="3200" dirty="0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075AD08-676D-5E4D-A69F-27DB32311DB5}"/>
              </a:ext>
            </a:extLst>
          </p:cNvPr>
          <p:cNvSpPr/>
          <p:nvPr/>
        </p:nvSpPr>
        <p:spPr>
          <a:xfrm>
            <a:off x="12284520" y="3628105"/>
            <a:ext cx="2688486" cy="1049980"/>
          </a:xfrm>
          <a:prstGeom prst="roundRect">
            <a:avLst/>
          </a:prstGeom>
          <a:solidFill>
            <a:srgbClr val="DCEAF7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Symbolic Seed Generation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A13F20C-23C1-1C2C-02AA-BFF932C32A42}"/>
              </a:ext>
            </a:extLst>
          </p:cNvPr>
          <p:cNvCxnSpPr>
            <a:cxnSpLocks/>
            <a:stCxn id="22" idx="3"/>
            <a:endCxn id="51" idx="1"/>
          </p:cNvCxnSpPr>
          <p:nvPr/>
        </p:nvCxnSpPr>
        <p:spPr>
          <a:xfrm>
            <a:off x="14973006" y="4153095"/>
            <a:ext cx="3248658" cy="201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759ACCC7-C258-D96C-2971-472018E3F2BF}"/>
              </a:ext>
            </a:extLst>
          </p:cNvPr>
          <p:cNvSpPr/>
          <p:nvPr/>
        </p:nvSpPr>
        <p:spPr>
          <a:xfrm>
            <a:off x="18221664" y="3465964"/>
            <a:ext cx="4233956" cy="1414617"/>
          </a:xfrm>
          <a:prstGeom prst="rect">
            <a:avLst/>
          </a:prstGeom>
          <a:solidFill>
            <a:schemeClr val="bg1"/>
          </a:solidFill>
          <a:ln w="38100">
            <a:solidFill>
              <a:srgbClr val="FFFF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Structure-Aware Mutation</a:t>
            </a:r>
          </a:p>
          <a:p>
            <a:pPr algn="ctr"/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05B4D0AE-3CF6-A300-8DE4-494550528696}"/>
              </a:ext>
            </a:extLst>
          </p:cNvPr>
          <p:cNvCxnSpPr>
            <a:cxnSpLocks/>
            <a:stCxn id="51" idx="2"/>
            <a:endCxn id="22" idx="2"/>
          </p:cNvCxnSpPr>
          <p:nvPr/>
        </p:nvCxnSpPr>
        <p:spPr>
          <a:xfrm rot="5400000" flipH="1">
            <a:off x="16882455" y="1424394"/>
            <a:ext cx="202496" cy="6709879"/>
          </a:xfrm>
          <a:prstGeom prst="bentConnector3">
            <a:avLst>
              <a:gd name="adj1" fmla="val -51428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1C6D8118-6F45-9FF6-CACD-1D318AC7CB8A}"/>
              </a:ext>
            </a:extLst>
          </p:cNvPr>
          <p:cNvCxnSpPr>
            <a:cxnSpLocks/>
          </p:cNvCxnSpPr>
          <p:nvPr/>
        </p:nvCxnSpPr>
        <p:spPr>
          <a:xfrm>
            <a:off x="20353156" y="4880581"/>
            <a:ext cx="0" cy="20227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079D6F1F-5F86-CEC0-88CA-A5B2405173F0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14249458" y="7556747"/>
            <a:ext cx="3869985" cy="33156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027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23271</TotalTime>
  <Words>46</Words>
  <Application>Microsoft Office PowerPoint</Application>
  <PresentationFormat>自定义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16</cp:revision>
  <dcterms:created xsi:type="dcterms:W3CDTF">2026-06-03T08:16:52Z</dcterms:created>
  <dcterms:modified xsi:type="dcterms:W3CDTF">2026-07-17T03:57:26Z</dcterms:modified>
</cp:coreProperties>
</file>